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Secure Multi-Agent AI Framework</a:t>
            </a:r>
            <a:br/>
            <a:r>
              <a:t>for RAN Control Loops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End-to-End Implementation | NBUC Project 03 | Swetha Kerahalli, Nokia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AI-native 6G RANs embed AI in RRC control loops — mobility, handover, resource allocation</a:t>
            </a:r>
          </a:p>
          <a:p>
            <a:pPr>
              <a:defRPr sz="1400"/>
            </a:pPr>
            <a:r>
              <a:t>Centralized AI = single point of failure; compromised AI can manipulate RRC decisions</a:t>
            </a:r>
          </a:p>
          <a:p>
            <a:pPr>
              <a:defRPr sz="1400"/>
            </a:pPr>
            <a:r>
              <a:t>Need: secure, distributed, verifiable multi-agent coordination with consensus</a:t>
            </a:r>
          </a:p>
          <a:p>
            <a:pPr>
              <a:defRPr sz="1400"/>
            </a:pPr>
            <a:r>
              <a:t>References: 3GPP TS 38.331, O-RAN Near-RT RIC, IEEE MobiLLM, NBUC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Proposed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Multi-Agent Layer: 8 specialized agents (Mobility, Security, Resource, Energy, Trust, Beamforming, QoS, Policy)</a:t>
            </a:r>
          </a:p>
          <a:p>
            <a:pPr>
              <a:defRPr sz="1400"/>
            </a:pPr>
            <a:r>
              <a:t>RAN Control Layer: RRC decisions per TS 38.331 (HO, reconfiguration, beam switch)</a:t>
            </a:r>
          </a:p>
          <a:p>
            <a:pPr>
              <a:defRPr sz="1400"/>
            </a:pPr>
            <a:r>
              <a:t>Security Layer: Trust engine, anomaly detection, BFT consensus, PQC (Kyber/Dilithium)</a:t>
            </a:r>
          </a:p>
          <a:p>
            <a:pPr>
              <a:defRPr sz="1400"/>
            </a:pPr>
            <a:r>
              <a:t>O-RAN Integration: Near-RT RIC, E2 interface, xApps/rApps</a:t>
            </a:r>
          </a:p>
          <a:p>
            <a:pPr>
              <a:defRPr sz="1400"/>
            </a:pPr>
            <a:r>
              <a:t>Digital Twin: 48 cells, 12 gNBs, attack injection &amp; mitigation simulation</a:t>
            </a:r>
          </a:p>
        </p:txBody>
      </p:sp>
      <p:pic>
        <p:nvPicPr>
          <p:cNvPr id="4" name="Picture 3" descr="01_overall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3657600" cy="1648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Dataset &amp; Data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Synthetic telemetry: 70,000 rows × 42 columns</a:t>
            </a:r>
          </a:p>
          <a:p>
            <a:pPr>
              <a:defRPr sz="1400"/>
            </a:pPr>
            <a:r>
              <a:t>6 scenarios: normal, jamming, compromised agent, adversarial mobility, massive mobility, congestion</a:t>
            </a:r>
          </a:p>
          <a:p>
            <a:pPr>
              <a:defRPr sz="1400"/>
            </a:pPr>
            <a:r>
              <a:t>RAG corpus: 70 knowledge chunks (3GPP, O-RAN, MARL, security)</a:t>
            </a:r>
          </a:p>
          <a:p>
            <a:pPr>
              <a:defRPr sz="1400"/>
            </a:pPr>
            <a:r>
              <a:t>Split: 70% train / 15% validation / 15% test (stratified by scenario)</a:t>
            </a:r>
          </a:p>
          <a:p>
            <a:pPr>
              <a:defRPr sz="1400"/>
            </a:pPr>
            <a:r>
              <a:t>Features: RSRP, RSRQ, SINR, CQI, PRB, trust, anomaly, agent confidence</a:t>
            </a:r>
          </a:p>
        </p:txBody>
      </p:sp>
      <p:pic>
        <p:nvPicPr>
          <p:cNvPr id="4" name="Picture 3" descr="01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3657600" cy="2939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4191"/>
                </a:solidFill>
              </a:defRPr>
            </a:pPr>
            <a:r>
              <a:t>Data Correlation Heatmap &amp; CDFs</a:t>
            </a:r>
          </a:p>
        </p:txBody>
      </p:sp>
      <p:pic>
        <p:nvPicPr>
          <p:cNvPr id="3" name="Picture 2" descr="0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705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Agent Models — Training / Validation /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Mobility Agent: Gradient Boosting → ho_required (F1 on test)</a:t>
            </a:r>
          </a:p>
          <a:p>
            <a:pPr>
              <a:defRPr sz="1400"/>
            </a:pPr>
            <a:r>
              <a:t>Security Agent: Random Forest → threat_label (benign/malicious)</a:t>
            </a:r>
          </a:p>
          <a:p>
            <a:pPr>
              <a:defRPr sz="1400"/>
            </a:pPr>
            <a:r>
              <a:t>Resource Agent: Gradient Boosting → allocated_prb_count (regression)</a:t>
            </a:r>
          </a:p>
          <a:p>
            <a:pPr>
              <a:defRPr sz="1400"/>
            </a:pPr>
            <a:r>
              <a:t>Trust Agent: MLP → trust_score regression</a:t>
            </a:r>
          </a:p>
          <a:p>
            <a:pPr>
              <a:defRPr sz="1400"/>
            </a:pPr>
            <a:r>
              <a:t>QoS/Policy/Energy/Beamforming: RF/GB classifiers &amp; regressors</a:t>
            </a:r>
          </a:p>
          <a:p>
            <a:pPr>
              <a:defRPr sz="1400"/>
            </a:pPr>
            <a:r>
              <a:t>All models: train/val/test metrics saved; learning curves &amp; confusion matrices generated</a:t>
            </a:r>
          </a:p>
        </p:txBody>
      </p:sp>
      <p:pic>
        <p:nvPicPr>
          <p:cNvPr id="4" name="Picture 3" descr="03_agent_perform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3657600" cy="24949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Test Set Results (Sample)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mobility_agent: test F1=0.915</a:t>
            </a:r>
          </a:p>
          <a:p>
            <a:pPr>
              <a:defRPr sz="1400"/>
            </a:pPr>
            <a:r>
              <a:t>security_agent: test F1=0.994</a:t>
            </a:r>
          </a:p>
          <a:p>
            <a:pPr>
              <a:defRPr sz="1400"/>
            </a:pPr>
            <a:r>
              <a:t>resource_agent: test R2=0.404</a:t>
            </a:r>
          </a:p>
          <a:p>
            <a:pPr>
              <a:defRPr sz="1400"/>
            </a:pPr>
            <a:r>
              <a:t>energy_agent: test F1=1.000</a:t>
            </a:r>
          </a:p>
          <a:p>
            <a:pPr>
              <a:defRPr sz="1400"/>
            </a:pPr>
            <a:r>
              <a:t>trust_agent: test R2=0.558</a:t>
            </a:r>
          </a:p>
          <a:p>
            <a:pPr>
              <a:defRPr sz="1400"/>
            </a:pPr>
            <a:r>
              <a:t>beamforming_agent: test R2=-0.004</a:t>
            </a:r>
          </a:p>
          <a:p>
            <a:pPr>
              <a:defRPr sz="1400"/>
            </a:pPr>
            <a:r>
              <a:t>qos_agent: test F1=0.894</a:t>
            </a:r>
          </a:p>
          <a:p>
            <a:pPr>
              <a:defRPr sz="1400"/>
            </a:pPr>
            <a:r>
              <a:t>policy_agent: test F1=0.841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4191"/>
                </a:solidFill>
              </a:defRPr>
            </a:pPr>
            <a:r>
              <a:t>Classification Agent — Confusion Matrix &amp; ROC</a:t>
            </a:r>
          </a:p>
        </p:txBody>
      </p:sp>
      <p:pic>
        <p:nvPicPr>
          <p:cNvPr id="3" name="Picture 2" descr="mobility_agen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8636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4191"/>
                </a:solidFill>
              </a:defRPr>
            </a:pPr>
            <a:r>
              <a:t>Digital Twin — Time Series KPIs</a:t>
            </a:r>
          </a:p>
        </p:txBody>
      </p:sp>
      <p:pic>
        <p:nvPicPr>
          <p:cNvPr id="3" name="Picture 2" descr="01_twin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656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24191"/>
                </a:solidFill>
              </a:defRPr>
            </a:pPr>
            <a:r>
              <a:t>Digital Twin — Cell State Map</a:t>
            </a:r>
          </a:p>
        </p:txBody>
      </p:sp>
      <p:pic>
        <p:nvPicPr>
          <p:cNvPr id="3" name="Picture 2" descr="02_twin_cel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6203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Consensus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Weighted trust voting with BFT-inspired validation</a:t>
            </a:r>
          </a:p>
          <a:p>
            <a:pPr>
              <a:defRPr sz="1400"/>
            </a:pPr>
            <a:r>
              <a:t>Thresholds: majority &gt;70%, trust &gt;0.8, confidence &gt;0.85</a:t>
            </a:r>
          </a:p>
          <a:p>
            <a:pPr>
              <a:defRPr sz="1400"/>
            </a:pPr>
            <a:r>
              <a:t>MultiAgentCoordinator runs batch inference on test set</a:t>
            </a:r>
          </a:p>
          <a:p>
            <a:pPr>
              <a:defRPr sz="1400"/>
            </a:pPr>
            <a:r>
              <a:t>Consensus accept rate: 6.7%</a:t>
            </a:r>
          </a:p>
          <a:p>
            <a:pPr>
              <a:defRPr sz="1400"/>
            </a:pPr>
            <a:r>
              <a:t>Rejected proposals from compromised/low-trust agents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Dashboard &amp;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Streamlit dashboard: Overview, Data, Agents, Train/Val/Test, Digital Twin, Chatbot</a:t>
            </a:r>
          </a:p>
          <a:p>
            <a:pPr>
              <a:defRPr sz="1400"/>
            </a:pPr>
            <a:r>
              <a:t>Plotly interactive charts + static matplotlib plots</a:t>
            </a:r>
          </a:p>
          <a:p>
            <a:pPr>
              <a:defRPr sz="1400"/>
            </a:pPr>
            <a:r>
              <a:t>RAG chatbot over project knowledge corpus (TF-IDF retrieval)</a:t>
            </a:r>
          </a:p>
          <a:p>
            <a:pPr>
              <a:defRPr sz="1400"/>
            </a:pPr>
            <a:r>
              <a:t>Launch: streamlit run dashboard/app.py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4191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3GPP TS 38.300, 38.331, 38.215, 28.530, 23.288, 33.501</a:t>
            </a:r>
          </a:p>
          <a:p>
            <a:pPr>
              <a:defRPr sz="1400"/>
            </a:pPr>
            <a:r>
              <a:t>3GPP TR 38.817, TR 23.700-80</a:t>
            </a:r>
          </a:p>
          <a:p>
            <a:pPr>
              <a:defRPr sz="1400"/>
            </a:pPr>
            <a:r>
              <a:t>O-RAN Near-RT RIC, E2GAP, xApp/rApp specifications</a:t>
            </a:r>
          </a:p>
          <a:p>
            <a:pPr>
              <a:defRPr sz="1400"/>
            </a:pPr>
            <a:r>
              <a:t>IEEE: MobiLLM, AI-Augmented Predictive Mobility, Jamming-Resilient HO (RL)</a:t>
            </a:r>
          </a:p>
          <a:p>
            <a:pPr>
              <a:defRPr sz="1400"/>
            </a:pPr>
            <a:r>
              <a:t>NIST PQC: CRYSTALS-Kyber, Dilithium | NBUC Problem Statement — Swetha Kerahalli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4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Questions? | proj3_code/ | Dashboard + Docs +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